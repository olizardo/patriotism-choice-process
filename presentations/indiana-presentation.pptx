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43"/>
  </p:notesMasterIdLst>
  <p:sldIdLst>
    <p:sldId id="256" r:id="rId2"/>
    <p:sldId id="260" r:id="rId3"/>
    <p:sldId id="258" r:id="rId4"/>
    <p:sldId id="259" r:id="rId5"/>
    <p:sldId id="261" r:id="rId6"/>
    <p:sldId id="267" r:id="rId7"/>
    <p:sldId id="288" r:id="rId8"/>
    <p:sldId id="264" r:id="rId9"/>
    <p:sldId id="268" r:id="rId10"/>
    <p:sldId id="269" r:id="rId11"/>
    <p:sldId id="286" r:id="rId12"/>
    <p:sldId id="257" r:id="rId13"/>
    <p:sldId id="266" r:id="rId14"/>
    <p:sldId id="287" r:id="rId15"/>
    <p:sldId id="294" r:id="rId16"/>
    <p:sldId id="295" r:id="rId17"/>
    <p:sldId id="296" r:id="rId18"/>
    <p:sldId id="297" r:id="rId19"/>
    <p:sldId id="298" r:id="rId20"/>
    <p:sldId id="299" r:id="rId21"/>
    <p:sldId id="265" r:id="rId22"/>
    <p:sldId id="289" r:id="rId23"/>
    <p:sldId id="290" r:id="rId24"/>
    <p:sldId id="291" r:id="rId25"/>
    <p:sldId id="271" r:id="rId26"/>
    <p:sldId id="276" r:id="rId27"/>
    <p:sldId id="274" r:id="rId28"/>
    <p:sldId id="292" r:id="rId29"/>
    <p:sldId id="273" r:id="rId30"/>
    <p:sldId id="279" r:id="rId31"/>
    <p:sldId id="275" r:id="rId32"/>
    <p:sldId id="293" r:id="rId33"/>
    <p:sldId id="277" r:id="rId34"/>
    <p:sldId id="300" r:id="rId35"/>
    <p:sldId id="278" r:id="rId36"/>
    <p:sldId id="281" r:id="rId37"/>
    <p:sldId id="282" r:id="rId38"/>
    <p:sldId id="283" r:id="rId39"/>
    <p:sldId id="285" r:id="rId40"/>
    <p:sldId id="284" r:id="rId41"/>
    <p:sldId id="28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2" autoAdjust="0"/>
    <p:restoredTop sz="94693" autoAdjust="0"/>
  </p:normalViewPr>
  <p:slideViewPr>
    <p:cSldViewPr>
      <p:cViewPr varScale="1">
        <p:scale>
          <a:sx n="88" d="100"/>
          <a:sy n="88" d="100"/>
        </p:scale>
        <p:origin x="-102" y="-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172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.nd.edu\olizardo\Private\patriotism-choice-process\tab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/>
    <c:plotArea>
      <c:layout/>
      <c:barChart>
        <c:barDir val="col"/>
        <c:grouping val="clustered"/>
        <c:ser>
          <c:idx val="0"/>
          <c:order val="0"/>
          <c:tx>
            <c:strRef>
              <c:f>Sheet3!$G$6</c:f>
              <c:strCache>
                <c:ptCount val="1"/>
                <c:pt idx="0">
                  <c:v>Mean U.S. Pride Score</c:v>
                </c:pt>
              </c:strCache>
            </c:strRef>
          </c:tx>
          <c:dLbls>
            <c:showVal val="1"/>
          </c:dLbls>
          <c:cat>
            <c:numRef>
              <c:f>Sheet3!$F$7:$F$8</c:f>
              <c:numCache>
                <c:formatCode>General</c:formatCode>
                <c:ptCount val="2"/>
                <c:pt idx="0">
                  <c:v>1996</c:v>
                </c:pt>
                <c:pt idx="1">
                  <c:v>2004</c:v>
                </c:pt>
              </c:numCache>
            </c:numRef>
          </c:cat>
          <c:val>
            <c:numRef>
              <c:f>Sheet3!$G$7:$G$8</c:f>
              <c:numCache>
                <c:formatCode>General</c:formatCode>
                <c:ptCount val="2"/>
                <c:pt idx="0">
                  <c:v>3.15</c:v>
                </c:pt>
                <c:pt idx="1">
                  <c:v>4.04</c:v>
                </c:pt>
              </c:numCache>
            </c:numRef>
          </c:val>
        </c:ser>
        <c:dLbls>
          <c:showVal val="1"/>
        </c:dLbls>
        <c:overlap val="-25"/>
        <c:axId val="117399936"/>
        <c:axId val="117401472"/>
      </c:barChart>
      <c:catAx>
        <c:axId val="117399936"/>
        <c:scaling>
          <c:orientation val="minMax"/>
        </c:scaling>
        <c:axPos val="b"/>
        <c:numFmt formatCode="General" sourceLinked="1"/>
        <c:majorTickMark val="none"/>
        <c:tickLblPos val="nextTo"/>
        <c:crossAx val="117401472"/>
        <c:crosses val="autoZero"/>
        <c:auto val="1"/>
        <c:lblAlgn val="ctr"/>
        <c:lblOffset val="100"/>
      </c:catAx>
      <c:valAx>
        <c:axId val="117401472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17399936"/>
        <c:crosses val="autoZero"/>
        <c:crossBetween val="between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title>
      <c:tx>
        <c:rich>
          <a:bodyPr/>
          <a:lstStyle/>
          <a:p>
            <a:pPr>
              <a:defRPr/>
            </a:pPr>
            <a:r>
              <a:rPr lang="en-US" dirty="0"/>
              <a:t>Mean U.S. Pride Scale</a:t>
            </a:r>
            <a:r>
              <a:rPr lang="en-US" baseline="0" dirty="0"/>
              <a:t> Score</a:t>
            </a:r>
          </a:p>
          <a:p>
            <a:pPr>
              <a:defRPr/>
            </a:pPr>
            <a:r>
              <a:rPr lang="en-US" baseline="0" dirty="0"/>
              <a:t>By  Education and Year</a:t>
            </a:r>
            <a:endParaRPr lang="en-US" dirty="0"/>
          </a:p>
        </c:rich>
      </c:tx>
    </c:title>
    <c:plotArea>
      <c:layout/>
      <c:barChart>
        <c:barDir val="bar"/>
        <c:grouping val="clustered"/>
        <c:ser>
          <c:idx val="0"/>
          <c:order val="0"/>
          <c:tx>
            <c:strRef>
              <c:f>Sheet2!$B$3</c:f>
              <c:strCache>
                <c:ptCount val="1"/>
                <c:pt idx="0">
                  <c:v>1996</c:v>
                </c:pt>
              </c:strCache>
            </c:strRef>
          </c:tx>
          <c:dLbls>
            <c:showVal val="1"/>
          </c:dLbls>
          <c:cat>
            <c:strRef>
              <c:f>Sheet2!$A$4:$A$10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Sheet2!$B$4:$B$10</c:f>
              <c:numCache>
                <c:formatCode>General</c:formatCode>
                <c:ptCount val="7"/>
                <c:pt idx="0">
                  <c:v>3.79</c:v>
                </c:pt>
                <c:pt idx="1">
                  <c:v>3.62</c:v>
                </c:pt>
                <c:pt idx="2">
                  <c:v>3.09</c:v>
                </c:pt>
                <c:pt idx="3">
                  <c:v>3</c:v>
                </c:pt>
                <c:pt idx="4">
                  <c:v>3.23</c:v>
                </c:pt>
                <c:pt idx="5">
                  <c:v>3.02</c:v>
                </c:pt>
                <c:pt idx="6">
                  <c:v>2.56</c:v>
                </c:pt>
              </c:numCache>
            </c:numRef>
          </c:val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2004</c:v>
                </c:pt>
              </c:strCache>
            </c:strRef>
          </c:tx>
          <c:dLbls>
            <c:showVal val="1"/>
          </c:dLbls>
          <c:cat>
            <c:strRef>
              <c:f>Sheet2!$A$4:$A$10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Sheet2!$C$4:$C$10</c:f>
              <c:numCache>
                <c:formatCode>General</c:formatCode>
                <c:ptCount val="7"/>
                <c:pt idx="0">
                  <c:v>3.3499999999999992</c:v>
                </c:pt>
                <c:pt idx="1">
                  <c:v>3.61</c:v>
                </c:pt>
                <c:pt idx="2">
                  <c:v>3.9699999999999998</c:v>
                </c:pt>
                <c:pt idx="3">
                  <c:v>4.03</c:v>
                </c:pt>
                <c:pt idx="4">
                  <c:v>4.28</c:v>
                </c:pt>
                <c:pt idx="5">
                  <c:v>4.28</c:v>
                </c:pt>
                <c:pt idx="6">
                  <c:v>4.07</c:v>
                </c:pt>
              </c:numCache>
            </c:numRef>
          </c:val>
        </c:ser>
        <c:dLbls>
          <c:showVal val="1"/>
        </c:dLbls>
        <c:overlap val="-25"/>
        <c:axId val="117405952"/>
        <c:axId val="117485568"/>
      </c:barChart>
      <c:catAx>
        <c:axId val="117405952"/>
        <c:scaling>
          <c:orientation val="minMax"/>
        </c:scaling>
        <c:axPos val="l"/>
        <c:majorTickMark val="none"/>
        <c:tickLblPos val="nextTo"/>
        <c:crossAx val="117485568"/>
        <c:crosses val="autoZero"/>
        <c:auto val="1"/>
        <c:lblAlgn val="ctr"/>
        <c:lblOffset val="100"/>
      </c:catAx>
      <c:valAx>
        <c:axId val="117485568"/>
        <c:scaling>
          <c:orientation val="minMax"/>
          <c:min val="0"/>
        </c:scaling>
        <c:delete val="1"/>
        <c:axPos val="b"/>
        <c:numFmt formatCode="General" sourceLinked="1"/>
        <c:majorTickMark val="none"/>
        <c:tickLblPos val="nextTo"/>
        <c:crossAx val="117405952"/>
        <c:crosses val="autoZero"/>
        <c:crossBetween val="between"/>
      </c:valAx>
    </c:plotArea>
    <c:legend>
      <c:legendPos val="t"/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autoTitleDeleted val="1"/>
    <c:view3D>
      <c:rAngAx val="1"/>
    </c:view3D>
    <c:plotArea>
      <c:layout/>
      <c:bar3DChart>
        <c:barDir val="bar"/>
        <c:grouping val="clustered"/>
        <c:ser>
          <c:idx val="0"/>
          <c:order val="0"/>
          <c:tx>
            <c:v>1996</c:v>
          </c:tx>
          <c:dLbls>
            <c:showVal val="1"/>
          </c:dLbls>
          <c:cat>
            <c:strRef>
              <c:f>Sheet2!$N$2:$N$11</c:f>
              <c:strCache>
                <c:ptCount val="10"/>
                <c:pt idx="0">
                  <c:v>Higher Grade Professionals </c:v>
                </c:pt>
                <c:pt idx="1">
                  <c:v>Lower Grade Professionals </c:v>
                </c:pt>
                <c:pt idx="2">
                  <c:v>routine nonmanual</c:v>
                </c:pt>
                <c:pt idx="3">
                  <c:v>Self Employed (with Employees)</c:v>
                </c:pt>
                <c:pt idx="4">
                  <c:v>Self Employed </c:v>
                </c:pt>
                <c:pt idx="5">
                  <c:v>Manual Supervisor</c:v>
                </c:pt>
                <c:pt idx="6">
                  <c:v>Skilled Manual</c:v>
                </c:pt>
                <c:pt idx="7">
                  <c:v>Semi-Unskilled Manual</c:v>
                </c:pt>
                <c:pt idx="8">
                  <c:v>Farm Labor</c:v>
                </c:pt>
                <c:pt idx="9">
                  <c:v>Self-Employed Farm</c:v>
                </c:pt>
              </c:strCache>
            </c:strRef>
          </c:cat>
          <c:val>
            <c:numRef>
              <c:f>Sheet2!$O$2:$O$11</c:f>
              <c:numCache>
                <c:formatCode>0.00</c:formatCode>
                <c:ptCount val="10"/>
                <c:pt idx="0">
                  <c:v>3.0479449999999999</c:v>
                </c:pt>
                <c:pt idx="1">
                  <c:v>2.9377879999999998</c:v>
                </c:pt>
                <c:pt idx="2">
                  <c:v>3.0451130000000002</c:v>
                </c:pt>
                <c:pt idx="3">
                  <c:v>3.5671640000000009</c:v>
                </c:pt>
                <c:pt idx="4">
                  <c:v>2.666666999999999</c:v>
                </c:pt>
                <c:pt idx="5">
                  <c:v>3.3829789999999993</c:v>
                </c:pt>
                <c:pt idx="6">
                  <c:v>3.822581</c:v>
                </c:pt>
                <c:pt idx="7">
                  <c:v>3.311593999999999</c:v>
                </c:pt>
                <c:pt idx="8">
                  <c:v>1.8</c:v>
                </c:pt>
                <c:pt idx="9">
                  <c:v>3.5</c:v>
                </c:pt>
              </c:numCache>
            </c:numRef>
          </c:val>
        </c:ser>
        <c:ser>
          <c:idx val="1"/>
          <c:order val="1"/>
          <c:tx>
            <c:v>2004</c:v>
          </c:tx>
          <c:dLbls>
            <c:showVal val="1"/>
          </c:dLbls>
          <c:cat>
            <c:strRef>
              <c:f>Sheet2!$N$2:$N$11</c:f>
              <c:strCache>
                <c:ptCount val="10"/>
                <c:pt idx="0">
                  <c:v>Higher Grade Professionals </c:v>
                </c:pt>
                <c:pt idx="1">
                  <c:v>Lower Grade Professionals </c:v>
                </c:pt>
                <c:pt idx="2">
                  <c:v>routine nonmanual</c:v>
                </c:pt>
                <c:pt idx="3">
                  <c:v>Self Employed (with Employees)</c:v>
                </c:pt>
                <c:pt idx="4">
                  <c:v>Self Employed </c:v>
                </c:pt>
                <c:pt idx="5">
                  <c:v>Manual Supervisor</c:v>
                </c:pt>
                <c:pt idx="6">
                  <c:v>Skilled Manual</c:v>
                </c:pt>
                <c:pt idx="7">
                  <c:v>Semi-Unskilled Manual</c:v>
                </c:pt>
                <c:pt idx="8">
                  <c:v>Farm Labor</c:v>
                </c:pt>
                <c:pt idx="9">
                  <c:v>Self-Employed Farm</c:v>
                </c:pt>
              </c:strCache>
            </c:strRef>
          </c:cat>
          <c:val>
            <c:numRef>
              <c:f>Sheet2!$P$2:$P$11</c:f>
              <c:numCache>
                <c:formatCode>0.00</c:formatCode>
                <c:ptCount val="10"/>
                <c:pt idx="0">
                  <c:v>4.1256539999999982</c:v>
                </c:pt>
                <c:pt idx="1">
                  <c:v>3.921295999999999</c:v>
                </c:pt>
                <c:pt idx="2">
                  <c:v>3.848214</c:v>
                </c:pt>
                <c:pt idx="3">
                  <c:v>4.6805549999999974</c:v>
                </c:pt>
                <c:pt idx="4">
                  <c:v>4.8181819999999975</c:v>
                </c:pt>
                <c:pt idx="5">
                  <c:v>4.3684209999999979</c:v>
                </c:pt>
                <c:pt idx="6">
                  <c:v>4.5098039999999999</c:v>
                </c:pt>
                <c:pt idx="7">
                  <c:v>3.6732670000000001</c:v>
                </c:pt>
                <c:pt idx="8">
                  <c:v>3</c:v>
                </c:pt>
                <c:pt idx="9">
                  <c:v>3.8333330000000001</c:v>
                </c:pt>
              </c:numCache>
            </c:numRef>
          </c:val>
        </c:ser>
        <c:dLbls>
          <c:showVal val="1"/>
        </c:dLbls>
        <c:gapWidth val="75"/>
        <c:shape val="box"/>
        <c:axId val="117520256"/>
        <c:axId val="117521792"/>
        <c:axId val="0"/>
      </c:bar3DChart>
      <c:catAx>
        <c:axId val="117520256"/>
        <c:scaling>
          <c:orientation val="minMax"/>
        </c:scaling>
        <c:axPos val="l"/>
        <c:majorTickMark val="none"/>
        <c:tickLblPos val="nextTo"/>
        <c:crossAx val="117521792"/>
        <c:crosses val="autoZero"/>
        <c:auto val="1"/>
        <c:lblAlgn val="ctr"/>
        <c:lblOffset val="100"/>
      </c:catAx>
      <c:valAx>
        <c:axId val="117521792"/>
        <c:scaling>
          <c:orientation val="minMax"/>
        </c:scaling>
        <c:axPos val="b"/>
        <c:numFmt formatCode="0.00" sourceLinked="1"/>
        <c:majorTickMark val="none"/>
        <c:tickLblPos val="nextTo"/>
        <c:crossAx val="117520256"/>
        <c:crosses val="autoZero"/>
        <c:crossBetween val="between"/>
      </c:valAx>
    </c:plotArea>
    <c:legend>
      <c:legendPos val="b"/>
    </c:legend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lineChart>
        <c:grouping val="standard"/>
        <c:ser>
          <c:idx val="0"/>
          <c:order val="0"/>
          <c:tx>
            <c:v>1996</c:v>
          </c:tx>
          <c:cat>
            <c:strRef>
              <c:f>Sheet2!$A$28:$A$34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Sheet2!$B$28:$B$34</c:f>
              <c:numCache>
                <c:formatCode>General</c:formatCode>
                <c:ptCount val="7"/>
                <c:pt idx="0">
                  <c:v>3.210995</c:v>
                </c:pt>
                <c:pt idx="1">
                  <c:v>3.147802</c:v>
                </c:pt>
                <c:pt idx="2">
                  <c:v>3.084608999999999</c:v>
                </c:pt>
                <c:pt idx="3">
                  <c:v>3.0214149999999997</c:v>
                </c:pt>
                <c:pt idx="4">
                  <c:v>2.9582219999999997</c:v>
                </c:pt>
                <c:pt idx="5">
                  <c:v>2.8950289999999987</c:v>
                </c:pt>
                <c:pt idx="6">
                  <c:v>2.8318359999999987</c:v>
                </c:pt>
              </c:numCache>
            </c:numRef>
          </c:val>
        </c:ser>
        <c:ser>
          <c:idx val="1"/>
          <c:order val="1"/>
          <c:tx>
            <c:v>2004</c:v>
          </c:tx>
          <c:cat>
            <c:strRef>
              <c:f>Sheet2!$A$28:$A$34</c:f>
              <c:strCache>
                <c:ptCount val="7"/>
                <c:pt idx="0">
                  <c:v>0-6 years</c:v>
                </c:pt>
                <c:pt idx="1">
                  <c:v>7-11 years</c:v>
                </c:pt>
                <c:pt idx="2">
                  <c:v>12 years</c:v>
                </c:pt>
                <c:pt idx="3">
                  <c:v>13-15 years</c:v>
                </c:pt>
                <c:pt idx="4">
                  <c:v>16 years</c:v>
                </c:pt>
                <c:pt idx="5">
                  <c:v>17/19 years</c:v>
                </c:pt>
                <c:pt idx="6">
                  <c:v>20+ years</c:v>
                </c:pt>
              </c:strCache>
            </c:strRef>
          </c:cat>
          <c:val>
            <c:numRef>
              <c:f>Sheet2!$C$28:$C$34</c:f>
              <c:numCache>
                <c:formatCode>General</c:formatCode>
                <c:ptCount val="7"/>
                <c:pt idx="0">
                  <c:v>3.795077</c:v>
                </c:pt>
                <c:pt idx="1">
                  <c:v>3.934404999999999</c:v>
                </c:pt>
                <c:pt idx="2">
                  <c:v>4.0737329999999998</c:v>
                </c:pt>
                <c:pt idx="3">
                  <c:v>4.2130599999999996</c:v>
                </c:pt>
                <c:pt idx="4">
                  <c:v>4.3523879999999986</c:v>
                </c:pt>
                <c:pt idx="5">
                  <c:v>4.4917160000000003</c:v>
                </c:pt>
                <c:pt idx="6">
                  <c:v>4.6310440000000002</c:v>
                </c:pt>
              </c:numCache>
            </c:numRef>
          </c:val>
        </c:ser>
        <c:marker val="1"/>
        <c:axId val="117555200"/>
        <c:axId val="117556736"/>
      </c:lineChart>
      <c:catAx>
        <c:axId val="117555200"/>
        <c:scaling>
          <c:orientation val="minMax"/>
        </c:scaling>
        <c:axPos val="b"/>
        <c:tickLblPos val="nextTo"/>
        <c:crossAx val="117556736"/>
        <c:crosses val="autoZero"/>
        <c:auto val="1"/>
        <c:lblAlgn val="ctr"/>
        <c:lblOffset val="100"/>
      </c:catAx>
      <c:valAx>
        <c:axId val="117556736"/>
        <c:scaling>
          <c:orientation val="minMax"/>
          <c:min val="2"/>
        </c:scaling>
        <c:axPos val="l"/>
        <c:majorGridlines/>
        <c:numFmt formatCode="General" sourceLinked="1"/>
        <c:tickLblPos val="nextTo"/>
        <c:crossAx val="117555200"/>
        <c:crosses val="autoZero"/>
        <c:crossBetween val="between"/>
      </c:valAx>
    </c:plotArea>
    <c:legend>
      <c:legendPos val="r"/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plotArea>
      <c:layout/>
      <c:stockChart>
        <c:ser>
          <c:idx val="0"/>
          <c:order val="0"/>
          <c:spPr>
            <a:ln w="66675">
              <a:noFill/>
            </a:ln>
          </c:spPr>
          <c:marker>
            <c:symbol val="none"/>
          </c:marke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Sheet3!$D$19:$D$33</c:f>
              <c:numCache>
                <c:formatCode>0.00</c:formatCode>
                <c:ptCount val="15"/>
                <c:pt idx="0">
                  <c:v>0.22</c:v>
                </c:pt>
                <c:pt idx="1">
                  <c:v>-0.22</c:v>
                </c:pt>
                <c:pt idx="2">
                  <c:v>0.18000000000000005</c:v>
                </c:pt>
                <c:pt idx="3">
                  <c:v>-0.76000000000000023</c:v>
                </c:pt>
                <c:pt idx="4">
                  <c:v>-0.47000000000000008</c:v>
                </c:pt>
                <c:pt idx="5">
                  <c:v>0.31000000000000011</c:v>
                </c:pt>
                <c:pt idx="6">
                  <c:v>-0.29000000000000009</c:v>
                </c:pt>
                <c:pt idx="7">
                  <c:v>-0.44</c:v>
                </c:pt>
                <c:pt idx="8">
                  <c:v>-0.61000000000000021</c:v>
                </c:pt>
                <c:pt idx="9">
                  <c:v>-0.16</c:v>
                </c:pt>
                <c:pt idx="10">
                  <c:v>-8.0000000000000029E-2</c:v>
                </c:pt>
                <c:pt idx="11">
                  <c:v>-0.34</c:v>
                </c:pt>
                <c:pt idx="12">
                  <c:v>-0.68</c:v>
                </c:pt>
                <c:pt idx="13">
                  <c:v>8.0000000000000029E-2</c:v>
                </c:pt>
                <c:pt idx="14">
                  <c:v>-4.0000000000000015E-2</c:v>
                </c:pt>
              </c:numCache>
            </c:numRef>
          </c:val>
        </c:ser>
        <c:ser>
          <c:idx val="1"/>
          <c:order val="1"/>
          <c:spPr>
            <a:ln w="66675">
              <a:noFill/>
            </a:ln>
          </c:spPr>
          <c:marker>
            <c:symbol val="none"/>
          </c:marke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Sheet3!$E$19:$E$33</c:f>
              <c:numCache>
                <c:formatCode>General</c:formatCode>
                <c:ptCount val="15"/>
                <c:pt idx="0">
                  <c:v>1.42</c:v>
                </c:pt>
                <c:pt idx="1">
                  <c:v>0.84000000000000019</c:v>
                </c:pt>
                <c:pt idx="2">
                  <c:v>1.6300000000000001</c:v>
                </c:pt>
                <c:pt idx="3">
                  <c:v>0.9700000000000002</c:v>
                </c:pt>
                <c:pt idx="4">
                  <c:v>0.6000000000000002</c:v>
                </c:pt>
                <c:pt idx="5" formatCode="0.00">
                  <c:v>1.24</c:v>
                </c:pt>
                <c:pt idx="6" formatCode="0.00">
                  <c:v>0.82000000000000017</c:v>
                </c:pt>
                <c:pt idx="7" formatCode="0.00">
                  <c:v>0.47000000000000008</c:v>
                </c:pt>
                <c:pt idx="8" formatCode="0.00">
                  <c:v>0.37000000000000011</c:v>
                </c:pt>
                <c:pt idx="9" formatCode="0.00">
                  <c:v>1.3900000000000001</c:v>
                </c:pt>
                <c:pt idx="10" formatCode="0.00">
                  <c:v>2.19</c:v>
                </c:pt>
                <c:pt idx="11" formatCode="0.00">
                  <c:v>1.45</c:v>
                </c:pt>
                <c:pt idx="12" formatCode="0.00">
                  <c:v>0.47000000000000008</c:v>
                </c:pt>
                <c:pt idx="13" formatCode="0.00">
                  <c:v>1.02</c:v>
                </c:pt>
                <c:pt idx="14" formatCode="0.00">
                  <c:v>0.71000000000000019</c:v>
                </c:pt>
              </c:numCache>
            </c:numRef>
          </c:val>
        </c:ser>
        <c:ser>
          <c:idx val="2"/>
          <c:order val="2"/>
          <c:spPr>
            <a:ln w="66675">
              <a:noFill/>
            </a:ln>
          </c:spPr>
          <c:cat>
            <c:strRef>
              <c:f>Sheet3!$C$19:$C$33</c:f>
              <c:strCache>
                <c:ptCount val="15"/>
                <c:pt idx="0">
                  <c:v>Fraternal</c:v>
                </c:pt>
                <c:pt idx="1">
                  <c:v>Service</c:v>
                </c:pt>
                <c:pt idx="2">
                  <c:v>Veteran</c:v>
                </c:pt>
                <c:pt idx="3">
                  <c:v>Political Club</c:v>
                </c:pt>
                <c:pt idx="4">
                  <c:v>Labor Union</c:v>
                </c:pt>
                <c:pt idx="5">
                  <c:v>Sports Club</c:v>
                </c:pt>
                <c:pt idx="6">
                  <c:v>Youth Group</c:v>
                </c:pt>
                <c:pt idx="7">
                  <c:v>School Service</c:v>
                </c:pt>
                <c:pt idx="8">
                  <c:v>Hobby Club</c:v>
                </c:pt>
                <c:pt idx="9">
                  <c:v>School Fraternity</c:v>
                </c:pt>
                <c:pt idx="10">
                  <c:v>Nationality Group</c:v>
                </c:pt>
                <c:pt idx="11">
                  <c:v>Farm Organization</c:v>
                </c:pt>
                <c:pt idx="12">
                  <c:v>Literary or Art</c:v>
                </c:pt>
                <c:pt idx="13">
                  <c:v>Professional Society</c:v>
                </c:pt>
                <c:pt idx="14">
                  <c:v>Church</c:v>
                </c:pt>
              </c:strCache>
            </c:strRef>
          </c:cat>
          <c:val>
            <c:numRef>
              <c:f>Sheet3!$F$19:$F$33</c:f>
              <c:numCache>
                <c:formatCode>0.00</c:formatCode>
                <c:ptCount val="15"/>
                <c:pt idx="0">
                  <c:v>0.82000000000000017</c:v>
                </c:pt>
                <c:pt idx="1">
                  <c:v>0.31000000000000011</c:v>
                </c:pt>
                <c:pt idx="2">
                  <c:v>0.9</c:v>
                </c:pt>
                <c:pt idx="3">
                  <c:v>0.1</c:v>
                </c:pt>
                <c:pt idx="4">
                  <c:v>6.0000000000000019E-2</c:v>
                </c:pt>
                <c:pt idx="5">
                  <c:v>0.77000000000000024</c:v>
                </c:pt>
                <c:pt idx="6">
                  <c:v>0.27</c:v>
                </c:pt>
                <c:pt idx="7">
                  <c:v>1.0000000000000004E-2</c:v>
                </c:pt>
                <c:pt idx="8">
                  <c:v>-0.12000000000000002</c:v>
                </c:pt>
                <c:pt idx="9">
                  <c:v>0.62000000000000022</c:v>
                </c:pt>
                <c:pt idx="10">
                  <c:v>1.06</c:v>
                </c:pt>
                <c:pt idx="11">
                  <c:v>0.56000000000000005</c:v>
                </c:pt>
                <c:pt idx="12">
                  <c:v>-0.11</c:v>
                </c:pt>
                <c:pt idx="13">
                  <c:v>0.55000000000000004</c:v>
                </c:pt>
                <c:pt idx="14">
                  <c:v>0.33000000000000013</c:v>
                </c:pt>
              </c:numCache>
            </c:numRef>
          </c:val>
        </c:ser>
        <c:hiLowLines/>
        <c:axId val="42996096"/>
        <c:axId val="42997632"/>
      </c:stockChart>
      <c:catAx>
        <c:axId val="42996096"/>
        <c:scaling>
          <c:orientation val="minMax"/>
        </c:scaling>
        <c:axPos val="b"/>
        <c:tickLblPos val="nextTo"/>
        <c:crossAx val="42997632"/>
        <c:crosses val="autoZero"/>
        <c:auto val="1"/>
        <c:lblAlgn val="ctr"/>
        <c:lblOffset val="100"/>
      </c:catAx>
      <c:valAx>
        <c:axId val="42997632"/>
        <c:scaling>
          <c:orientation val="minMax"/>
        </c:scaling>
        <c:axPos val="l"/>
        <c:majorGridlines/>
        <c:numFmt formatCode="0.00" sourceLinked="1"/>
        <c:tickLblPos val="nextTo"/>
        <c:crossAx val="42996096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998E1-C4D9-475A-9592-8CE4767E9383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9929A-F934-44A0-8EFF-46F124AF18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929A-F934-44A0-8EFF-46F124AF1876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32D331D-06F1-4AA7-B558-F5053433A300}" type="datetimeFigureOut">
              <a:rPr lang="en-US" smtClean="0"/>
              <a:pPr/>
              <a:t>2007-10-23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997C4D5-07BC-4124-ACA3-5E041D6CD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362200"/>
            <a:ext cx="7406640" cy="1472184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r>
              <a:rPr lang="en-US" dirty="0" smtClean="0"/>
              <a:t>(Post-9/11) national pride as affective attachment to a large group:  a choice-process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740664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Omar Lizardo</a:t>
            </a:r>
          </a:p>
          <a:p>
            <a:r>
              <a:rPr lang="en-US" i="1" dirty="0" smtClean="0"/>
              <a:t>University of Notre Dame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www.patriotic-promotions.com/patriotic_images/345367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762000"/>
            <a:ext cx="5715000" cy="571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krebsenterprise.net/library/1382PROUDTOBEANAMERICANBUMPERSTICK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371600"/>
            <a:ext cx="6096000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685800"/>
            <a:ext cx="5619750" cy="583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Psychological social psychology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62200"/>
            <a:ext cx="7239000" cy="4191000"/>
          </a:xfrm>
        </p:spPr>
        <p:txBody>
          <a:bodyPr>
            <a:normAutofit/>
          </a:bodyPr>
          <a:lstStyle/>
          <a:p>
            <a:r>
              <a:rPr lang="en-US" smtClean="0"/>
              <a:t>Two </a:t>
            </a:r>
            <a:r>
              <a:rPr lang="en-US" dirty="0" smtClean="0"/>
              <a:t>major set of perspectives</a:t>
            </a:r>
          </a:p>
          <a:p>
            <a:pPr lvl="1"/>
            <a:r>
              <a:rPr lang="en-US" dirty="0" smtClean="0"/>
              <a:t>National pride as a “rational” reaction rooted in the group’s capacities to meet individual needs</a:t>
            </a:r>
          </a:p>
          <a:p>
            <a:pPr lvl="1"/>
            <a:r>
              <a:rPr lang="en-US" dirty="0" smtClean="0"/>
              <a:t>National pride as “irrational” conservatism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The needs based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2200"/>
            <a:ext cx="7620000" cy="4191000"/>
          </a:xfr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 smtClean="0"/>
              <a:t>Individuals become attached to national groups in the very same way that they become attached to any other group.</a:t>
            </a:r>
          </a:p>
          <a:p>
            <a:r>
              <a:rPr lang="en-US" dirty="0" smtClean="0"/>
              <a:t>Attachment to national groups is likely if the group is perceived as meetings emotional and instrumental </a:t>
            </a:r>
            <a:r>
              <a:rPr lang="en-US" b="1" dirty="0" smtClean="0"/>
              <a:t>needs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Most important among these needs are those related to self-esteem, prestige and a sense of efficacy and belonging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 The needs based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Identity Theory and Self-Categorization Theory can be considered “need” based theories of affective attachment to large groups</a:t>
            </a:r>
          </a:p>
          <a:p>
            <a:pPr lvl="1"/>
            <a:r>
              <a:rPr lang="en-US" dirty="0" smtClean="0"/>
              <a:t>Need for self-esteem may lead individuals to become affectively attached to prestigious national collectivities</a:t>
            </a:r>
          </a:p>
          <a:p>
            <a:pPr lvl="1"/>
            <a:r>
              <a:rPr lang="en-US" dirty="0" smtClean="0"/>
              <a:t>Cognitive need to achieve a sense of self-identity in the face of uncertainty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The needs based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077200" cy="4364736"/>
          </a:xfrm>
        </p:spPr>
        <p:txBody>
          <a:bodyPr>
            <a:normAutofit/>
          </a:bodyPr>
          <a:lstStyle/>
          <a:p>
            <a:r>
              <a:rPr lang="en-US" dirty="0" smtClean="0"/>
              <a:t>Needs-based model verges on circularity.  Affective attachment to any national group can be explained simply by gerrymandering what are considered the basic “needs.”</a:t>
            </a:r>
          </a:p>
          <a:p>
            <a:r>
              <a:rPr lang="en-US" dirty="0" smtClean="0"/>
              <a:t>Needs proliferate endlessly</a:t>
            </a:r>
          </a:p>
          <a:p>
            <a:r>
              <a:rPr lang="en-US" dirty="0" smtClean="0"/>
              <a:t>There is no clear analytical division between </a:t>
            </a:r>
            <a:r>
              <a:rPr lang="en-US" i="1" dirty="0" smtClean="0"/>
              <a:t>affective </a:t>
            </a:r>
            <a:r>
              <a:rPr lang="en-US" dirty="0" smtClean="0"/>
              <a:t>and other types of attachment to large groups (i.e. cognitive or normative)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The irrational conservatism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400"/>
            <a:ext cx="757428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National pride is usually correlated with manifestations of “</a:t>
            </a:r>
            <a:r>
              <a:rPr lang="en-US" b="1" dirty="0" smtClean="0"/>
              <a:t>blind patriotism</a:t>
            </a:r>
            <a:r>
              <a:rPr lang="en-US" dirty="0" smtClean="0"/>
              <a:t>” (Schatz, </a:t>
            </a:r>
            <a:r>
              <a:rPr lang="en-US" dirty="0" err="1" smtClean="0"/>
              <a:t>Staub</a:t>
            </a:r>
            <a:r>
              <a:rPr lang="en-US" dirty="0" smtClean="0"/>
              <a:t> and Lavine1999)</a:t>
            </a:r>
          </a:p>
          <a:p>
            <a:r>
              <a:rPr lang="en-US" dirty="0" smtClean="0"/>
              <a:t>National pride is defined primarily as </a:t>
            </a:r>
            <a:r>
              <a:rPr lang="en-US" i="1" dirty="0" smtClean="0"/>
              <a:t>affective</a:t>
            </a:r>
            <a:r>
              <a:rPr lang="en-US" dirty="0" smtClean="0"/>
              <a:t> attachment that is “…a strong emotional investment in the nation, and a positive affective orientation to its symbols” (</a:t>
            </a:r>
            <a:r>
              <a:rPr lang="en-US" dirty="0" err="1" smtClean="0"/>
              <a:t>Kelman</a:t>
            </a:r>
            <a:r>
              <a:rPr lang="en-US" dirty="0" smtClean="0"/>
              <a:t> and Hamilton 1989).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does national pride come from? The irrational conservatism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0"/>
            <a:ext cx="7498080" cy="3962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“Patriotic” respondents much more likely (Sullivan et al 1992):</a:t>
            </a:r>
          </a:p>
          <a:p>
            <a:pPr lvl="1"/>
            <a:r>
              <a:rPr lang="en-US" dirty="0" smtClean="0"/>
              <a:t>to support militarism</a:t>
            </a:r>
          </a:p>
          <a:p>
            <a:pPr lvl="1"/>
            <a:r>
              <a:rPr lang="en-US" dirty="0" smtClean="0"/>
              <a:t>to reject national criticism</a:t>
            </a:r>
          </a:p>
          <a:p>
            <a:pPr lvl="1"/>
            <a:r>
              <a:rPr lang="en-US" dirty="0" smtClean="0"/>
              <a:t>to show uncritical support for government policies</a:t>
            </a:r>
          </a:p>
          <a:p>
            <a:pPr lvl="1"/>
            <a:r>
              <a:rPr lang="en-US" dirty="0" smtClean="0"/>
              <a:t>to be ideologically conservative</a:t>
            </a:r>
          </a:p>
          <a:p>
            <a:r>
              <a:rPr lang="en-US" dirty="0" smtClean="0"/>
              <a:t>“Excessive” attachment to national groups is seen as pathological (</a:t>
            </a:r>
            <a:r>
              <a:rPr lang="en-US" dirty="0" err="1" smtClean="0"/>
              <a:t>Adorno</a:t>
            </a:r>
            <a:r>
              <a:rPr lang="en-US" dirty="0" smtClean="0"/>
              <a:t> et al 1950)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762000"/>
            <a:ext cx="6221413" cy="5232400"/>
          </a:xfrm>
          <a:prstGeom prst="rect">
            <a:avLst/>
          </a:prstGeom>
          <a:noFill/>
          <a:ln w="952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Persons value individuality, freedom and self efficacy</a:t>
            </a:r>
          </a:p>
          <a:p>
            <a:r>
              <a:rPr lang="en-US" dirty="0" smtClean="0"/>
              <a:t>Persons form individual-to-individual affective attachments</a:t>
            </a:r>
          </a:p>
          <a:p>
            <a:r>
              <a:rPr lang="en-US" dirty="0" smtClean="0"/>
              <a:t>Persons form individual-to-collectivity affective attachments</a:t>
            </a:r>
          </a:p>
          <a:p>
            <a:r>
              <a:rPr lang="en-US" dirty="0" smtClean="0"/>
              <a:t>These two types of attachments are empirically and analytically distinct (Parsons 1951)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Lawler’s choice-process theory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Persons are usually embedded in social structures composed of </a:t>
            </a:r>
            <a:r>
              <a:rPr lang="en-US" i="1" dirty="0" smtClean="0"/>
              <a:t>nested groups</a:t>
            </a:r>
            <a:endParaRPr lang="en-US" dirty="0" smtClean="0"/>
          </a:p>
          <a:p>
            <a:r>
              <a:rPr lang="en-US" dirty="0" smtClean="0"/>
              <a:t>Groups will be the object of strong attachments to the extent that they are </a:t>
            </a:r>
            <a:r>
              <a:rPr lang="en-US" b="1" dirty="0" smtClean="0"/>
              <a:t>perceived as responsible </a:t>
            </a:r>
            <a:r>
              <a:rPr lang="en-US" dirty="0" smtClean="0"/>
              <a:t>for giving the person</a:t>
            </a:r>
          </a:p>
          <a:p>
            <a:pPr lvl="1"/>
            <a:r>
              <a:rPr lang="en-US" dirty="0" smtClean="0"/>
              <a:t>a sense of autonomy</a:t>
            </a:r>
          </a:p>
          <a:p>
            <a:pPr lvl="1"/>
            <a:r>
              <a:rPr lang="en-US" dirty="0" smtClean="0"/>
              <a:t>a sense of control over their environment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44650" y="274638"/>
            <a:ext cx="7499350" cy="1143000"/>
          </a:xfrm>
        </p:spPr>
        <p:txBody>
          <a:bodyPr/>
          <a:lstStyle/>
          <a:p>
            <a:r>
              <a:rPr lang="en-US" dirty="0" smtClean="0"/>
              <a:t>The choice process</a:t>
            </a:r>
            <a:endParaRPr lang="en-US" dirty="0"/>
          </a:p>
        </p:txBody>
      </p:sp>
      <p:cxnSp>
        <p:nvCxnSpPr>
          <p:cNvPr id="7" name="Straight Arrow Connector 6"/>
          <p:cNvCxnSpPr>
            <a:stCxn id="39" idx="3"/>
            <a:endCxn id="8" idx="1"/>
          </p:cNvCxnSpPr>
          <p:nvPr/>
        </p:nvCxnSpPr>
        <p:spPr>
          <a:xfrm>
            <a:off x="3048000" y="28194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0" y="2133600"/>
            <a:ext cx="2057400" cy="1371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Positive Emotion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6705600" y="2133600"/>
            <a:ext cx="2057400" cy="1371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Attribution process</a:t>
            </a:r>
          </a:p>
          <a:p>
            <a:pPr algn="ctr"/>
            <a:r>
              <a:rPr lang="en-US" sz="1400" dirty="0" smtClean="0"/>
              <a:t>(group is seen as responsible for the opportunity to act freely)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8" idx="3"/>
            <a:endCxn id="12" idx="1"/>
          </p:cNvCxnSpPr>
          <p:nvPr/>
        </p:nvCxnSpPr>
        <p:spPr>
          <a:xfrm>
            <a:off x="5867400" y="28194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705600" y="5257800"/>
            <a:ext cx="2057400" cy="1371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Affective attachment to the collectivity</a:t>
            </a:r>
            <a:endParaRPr lang="en-US" sz="1400" dirty="0"/>
          </a:p>
        </p:txBody>
      </p:sp>
      <p:cxnSp>
        <p:nvCxnSpPr>
          <p:cNvPr id="36" name="Straight Arrow Connector 35"/>
          <p:cNvCxnSpPr>
            <a:stCxn id="12" idx="2"/>
            <a:endCxn id="26" idx="0"/>
          </p:cNvCxnSpPr>
          <p:nvPr/>
        </p:nvCxnSpPr>
        <p:spPr>
          <a:xfrm rot="5400000">
            <a:off x="6858000" y="4381500"/>
            <a:ext cx="1752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90600" y="2133600"/>
            <a:ext cx="2057400" cy="1371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Efficacious action in a structured context</a:t>
            </a:r>
          </a:p>
          <a:p>
            <a:pPr algn="ctr"/>
            <a:r>
              <a:rPr lang="en-US" sz="1400" dirty="0" smtClean="0"/>
              <a:t>(perceived freedom of choice)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10000" y="3733800"/>
            <a:ext cx="2057400" cy="1371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“Responsibility Rules”</a:t>
            </a:r>
          </a:p>
          <a:p>
            <a:pPr algn="ctr"/>
            <a:r>
              <a:rPr lang="en-US" sz="1400" dirty="0" smtClean="0"/>
              <a:t>(Proximal versus Distal)</a:t>
            </a:r>
            <a:endParaRPr lang="en-US" sz="1400" dirty="0"/>
          </a:p>
        </p:txBody>
      </p:sp>
      <p:cxnSp>
        <p:nvCxnSpPr>
          <p:cNvPr id="59" name="Straight Arrow Connector 58"/>
          <p:cNvCxnSpPr>
            <a:stCxn id="58" idx="3"/>
          </p:cNvCxnSpPr>
          <p:nvPr/>
        </p:nvCxnSpPr>
        <p:spPr>
          <a:xfrm>
            <a:off x="5867400" y="4419600"/>
            <a:ext cx="1828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both need-based and irrational conservatism perspectives, 9/11 is an external “shock” that </a:t>
            </a:r>
          </a:p>
          <a:p>
            <a:pPr lvl="1"/>
            <a:r>
              <a:rPr lang="en-US" dirty="0" smtClean="0"/>
              <a:t>Increases </a:t>
            </a:r>
            <a:r>
              <a:rPr lang="en-US" dirty="0" err="1" smtClean="0"/>
              <a:t>ingroup-outgroup</a:t>
            </a:r>
            <a:r>
              <a:rPr lang="en-US" dirty="0" smtClean="0"/>
              <a:t> differentiation </a:t>
            </a:r>
          </a:p>
          <a:p>
            <a:pPr lvl="1"/>
            <a:r>
              <a:rPr lang="en-US" dirty="0" smtClean="0"/>
              <a:t>Results in more intense feelings of affective attachment to the collectivity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both need-based and irrational conservatism perspectives, 9/11 is an external  “shock” that </a:t>
            </a:r>
          </a:p>
          <a:p>
            <a:pPr lvl="1"/>
            <a:r>
              <a:rPr lang="en-US" dirty="0" smtClean="0"/>
              <a:t>These feelings should be stronger among those with the largest psychological needs for identification with a prestigious group and those more initially predisposed toward </a:t>
            </a:r>
            <a:r>
              <a:rPr lang="en-US" dirty="0" err="1" smtClean="0"/>
              <a:t>ingroup-outgroup</a:t>
            </a:r>
            <a:r>
              <a:rPr lang="en-US" dirty="0" smtClean="0"/>
              <a:t> bias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From both need-based and irrational conservatism perspectives, 9/11 is an external  “shock” that </a:t>
            </a:r>
          </a:p>
          <a:p>
            <a:pPr lvl="1"/>
            <a:r>
              <a:rPr lang="en-US" dirty="0" smtClean="0"/>
              <a:t>Low SES and low education individuals display more ethnocentric attitudes and are less likely to have social outlets that meet their needs for self-esteem and attachment</a:t>
            </a:r>
          </a:p>
          <a:p>
            <a:pPr lvl="1"/>
            <a:r>
              <a:rPr lang="en-US" dirty="0" smtClean="0"/>
              <a:t>Thus we should expect that low SES individuals and those of lower educational attainment to have increased their attachment to the collectivity after 9/11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9/11 can instead be seen as a “shock” to the </a:t>
            </a:r>
            <a:r>
              <a:rPr lang="en-US" i="1" dirty="0" smtClean="0"/>
              <a:t>cultural rules </a:t>
            </a:r>
            <a:r>
              <a:rPr lang="en-US" dirty="0" smtClean="0"/>
              <a:t>that govern the attribution of responsibility for the positive feelings engendered by the choice process</a:t>
            </a:r>
          </a:p>
          <a:p>
            <a:pPr lvl="1"/>
            <a:r>
              <a:rPr lang="en-US" dirty="0" smtClean="0"/>
              <a:t>Normally in individualistic societies like the U.S., the </a:t>
            </a:r>
            <a:r>
              <a:rPr lang="en-US" i="1" dirty="0" smtClean="0"/>
              <a:t>proximal rule</a:t>
            </a:r>
            <a:r>
              <a:rPr lang="en-US" dirty="0" smtClean="0"/>
              <a:t> dominates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I propose that 9/11 weakened the proximal rule and strengthened the cultural presence of a </a:t>
            </a:r>
            <a:r>
              <a:rPr lang="en-US" i="1" dirty="0" smtClean="0"/>
              <a:t>distal </a:t>
            </a:r>
            <a:r>
              <a:rPr lang="en-US" dirty="0" smtClean="0"/>
              <a:t>responsibility rule in which </a:t>
            </a:r>
            <a:r>
              <a:rPr lang="en-US" i="1" dirty="0" smtClean="0"/>
              <a:t>the nation </a:t>
            </a:r>
            <a:r>
              <a:rPr lang="en-US" dirty="0" smtClean="0"/>
              <a:t>becomes salient as the ultimate source of choice-opportunities</a:t>
            </a:r>
          </a:p>
          <a:p>
            <a:pPr lvl="1"/>
            <a:r>
              <a:rPr lang="en-US" dirty="0" smtClean="0"/>
              <a:t>This serves to positively connect efficacious action, positive emotion, attachment to nested </a:t>
            </a:r>
            <a:r>
              <a:rPr lang="en-US" i="1" dirty="0" smtClean="0"/>
              <a:t>subgroups</a:t>
            </a:r>
            <a:r>
              <a:rPr lang="en-US" dirty="0" smtClean="0"/>
              <a:t> and affective attachment to the </a:t>
            </a:r>
            <a:r>
              <a:rPr lang="en-US" i="1" dirty="0" smtClean="0"/>
              <a:t>national collectivity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theoretical status of 9/11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From the choice-process perspective on the other hand</a:t>
            </a:r>
          </a:p>
          <a:p>
            <a:pPr lvl="1"/>
            <a:r>
              <a:rPr lang="en-US" dirty="0" smtClean="0"/>
              <a:t>We should expect that those more likely to be able to experience positive emotions from their autonomous action should be more likely to have increased their affective attachment to the nation</a:t>
            </a:r>
          </a:p>
          <a:p>
            <a:pPr lvl="1"/>
            <a:r>
              <a:rPr lang="en-US" dirty="0" smtClean="0"/>
              <a:t>This means that high SES individuals and persons embedded in nested subgroups should have increased their global affective attachment after 9/11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Social Survey 1996 and 2004 waves (N=2557)</a:t>
            </a:r>
          </a:p>
          <a:p>
            <a:r>
              <a:rPr lang="en-US" dirty="0" smtClean="0"/>
              <a:t>Module on attitudes toward the U.S.</a:t>
            </a:r>
          </a:p>
          <a:p>
            <a:r>
              <a:rPr lang="en-US" dirty="0" smtClean="0"/>
              <a:t>“National Pride” and “nationalism” series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variables: national pride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How proud are you of America in each of the following? (1=very proud, 2=somewhat proud, 3=not very proud, 4=not proud at all, 5=can’t choose)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The way democracy works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political influence in the world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America's economic achievements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social security system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scientific and technological achievements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achievements in sports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achievements in the arts and literature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America's armed forces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history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dirty="0" smtClean="0"/>
              <a:t>Its fair and equal treatment of all groups in society</a:t>
            </a:r>
          </a:p>
          <a:p>
            <a:pPr marL="633222" indent="-514350"/>
            <a:r>
              <a:rPr lang="en-US" dirty="0" smtClean="0"/>
              <a:t>Additive scale created using the number of “very proud” responses (</a:t>
            </a:r>
            <a:r>
              <a:rPr lang="en-US" dirty="0" err="1" smtClean="0"/>
              <a:t>Cronbach’s</a:t>
            </a:r>
            <a:r>
              <a:rPr lang="en-US" dirty="0" smtClean="0"/>
              <a:t> alpha=0.73; range:  0-10)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variables: nationalism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How much do you agree or disagree with the following statements? (1=agree strongly, 2=agree, 3=neither agree or disagree, 4=disagree, 5=disagree strongly)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I would rather be a citizen of America than of any other country in the world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The world would be a better place if people from other countries were more like the Americans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Generally speaking, America is a better country than most other countries</a:t>
            </a:r>
          </a:p>
          <a:p>
            <a:pPr marL="916686" lvl="1" indent="-514350">
              <a:buFont typeface="+mj-lt"/>
              <a:buAutoNum type="arabicPeriod"/>
            </a:pPr>
            <a:r>
              <a:rPr lang="en-US" dirty="0" smtClean="0"/>
              <a:t>People should support their country even if the country is in the wrong</a:t>
            </a:r>
          </a:p>
          <a:p>
            <a:pPr marL="624078" indent="-514350"/>
            <a:r>
              <a:rPr lang="en-US" dirty="0" smtClean="0"/>
              <a:t>Scale created by computing the mean across responses (</a:t>
            </a:r>
            <a:r>
              <a:rPr lang="en-US" dirty="0" err="1" smtClean="0"/>
              <a:t>Cronbach’s</a:t>
            </a:r>
            <a:r>
              <a:rPr lang="en-US" dirty="0" smtClean="0"/>
              <a:t> alpha=0.63; range 1-5, reverse coded)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variables:  nested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Number of memberships in voluntary associations (2004 only)</a:t>
            </a:r>
          </a:p>
          <a:p>
            <a:r>
              <a:rPr lang="en-US" dirty="0" smtClean="0"/>
              <a:t>Fifteen total types (range 0-13; mean=1.6, SD=1.9):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Fraternal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Service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Veteran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Political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Labor Union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Sports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Youth Group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School Service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Hobby Club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School Fraternity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Nationality Group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Farm Organization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Literary or Art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Professional Society</a:t>
            </a:r>
          </a:p>
          <a:p>
            <a:pPr marL="1161288" lvl="2" indent="-457200">
              <a:buFont typeface="+mj-lt"/>
              <a:buAutoNum type="arabicPeriod"/>
            </a:pPr>
            <a:r>
              <a:rPr lang="en-US" dirty="0" smtClean="0"/>
              <a:t>Church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667000"/>
            <a:ext cx="41648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4800600" y="22098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Median and </a:t>
            </a:r>
            <a:r>
              <a:rPr lang="en-US" b="1" dirty="0" err="1" smtClean="0"/>
              <a:t>interquartile</a:t>
            </a:r>
            <a:r>
              <a:rPr lang="en-US" b="1" dirty="0" smtClean="0"/>
              <a:t> range</a:t>
            </a:r>
            <a:endParaRPr lang="en-US" b="1" dirty="0"/>
          </a:p>
        </p:txBody>
      </p:sp>
      <p:graphicFrame>
        <p:nvGraphicFramePr>
          <p:cNvPr id="25" name="Chart 24"/>
          <p:cNvGraphicFramePr/>
          <p:nvPr/>
        </p:nvGraphicFramePr>
        <p:xfrm>
          <a:off x="609600" y="2514600"/>
          <a:ext cx="3733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9/11 effect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2819400"/>
            <a:ext cx="6447118" cy="662909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32777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199" y="3810000"/>
            <a:ext cx="7763069" cy="1219200"/>
          </a:xfrm>
          <a:prstGeom prst="rect">
            <a:avLst/>
          </a:prstGeom>
          <a:noFill/>
        </p:spPr>
      </p:pic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0" y="1390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8000" y="3733800"/>
            <a:ext cx="1143000" cy="685800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791200" y="3733800"/>
            <a:ext cx="1143000" cy="685800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981200"/>
          <a:ext cx="8686800" cy="3276603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5758780"/>
                <a:gridCol w="737124"/>
                <a:gridCol w="1126161"/>
                <a:gridCol w="1064735"/>
              </a:tblGrid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How proud are you of America in each of the following?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exp(b)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X-squared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p-value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The way democracy works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1.61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81.06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political influence in the world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15.75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America's economic achievements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144.49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social security system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11.37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scientific and technological achievements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91.76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achievements in sports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42.70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achievements in the arts and literature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139.19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America's armed forces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3.73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641.00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history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2.01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204.40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78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/>
                        <a:t>Its fair and equal treatment of all groups in society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1.85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110.97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/>
                        <a:t>0.0000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/>
          <a:lstStyle/>
          <a:p>
            <a:r>
              <a:rPr lang="en-US" dirty="0" smtClean="0"/>
              <a:t>The period effect: by item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Which subgroups experienced the most dramatic increase in their national attachment patterns post 9/11?</a:t>
            </a:r>
          </a:p>
          <a:p>
            <a:pPr lvl="1"/>
            <a:r>
              <a:rPr lang="en-US" dirty="0" smtClean="0"/>
              <a:t>Need-based and “irrational conservatism” theories predict that </a:t>
            </a:r>
          </a:p>
          <a:p>
            <a:pPr lvl="2"/>
            <a:r>
              <a:rPr lang="en-US" dirty="0" smtClean="0"/>
              <a:t>those with the largest needs for self-esteem or those more initially predisposed toward ethnocentric bias should become more attached </a:t>
            </a:r>
          </a:p>
          <a:p>
            <a:pPr lvl="1"/>
            <a:r>
              <a:rPr lang="en-US" dirty="0" smtClean="0"/>
              <a:t>The choice process view on the other hand, predicts that </a:t>
            </a:r>
          </a:p>
          <a:p>
            <a:pPr lvl="2"/>
            <a:r>
              <a:rPr lang="en-US" dirty="0" smtClean="0"/>
              <a:t>those who experience the most autonomy in their day to day life and those embedded in nested groups should become more attached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990600" y="838200"/>
          <a:ext cx="6696076" cy="5243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457200" y="838200"/>
          <a:ext cx="83058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71800" y="1447801"/>
          <a:ext cx="4191000" cy="384810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1379964"/>
                <a:gridCol w="1405518"/>
                <a:gridCol w="1405518"/>
              </a:tblGrid>
              <a:tr h="39052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1996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2004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Education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-0.0508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0.139*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(-0.90)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(2.36)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Cohort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-0.0452***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-0.0278***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(-9.97)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(-5.89)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Constant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91.60***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58.04***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(10.37)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(6.26)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baseline="0" dirty="0"/>
                        <a:t>N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1309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baseline="0" dirty="0"/>
                        <a:t>1212  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95600" y="49530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05000" y="1524000"/>
          <a:ext cx="5257799" cy="396240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866581"/>
                <a:gridCol w="1195609"/>
                <a:gridCol w="1195609"/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1996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2004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Nako-Treas SEI Score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0.00230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0.0102**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(0.58)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(2.59)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Cohort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-0.0473***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-0.0268***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(-10.13)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(-5.43)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Constant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95.40***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56.11***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(10.45)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(5.78)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1255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/>
                        <a:t>1152 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51816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809750" y="1200148"/>
          <a:ext cx="5524500" cy="4457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5181600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t-statistics in parentheses</a:t>
            </a:r>
          </a:p>
          <a:p>
            <a:r>
              <a:rPr lang="en-US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00200"/>
          <a:ext cx="4953000" cy="388620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548168"/>
                <a:gridCol w="1146675"/>
                <a:gridCol w="1258157"/>
              </a:tblGrid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1996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2004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Nationalism Scale Score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1.284***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1.199***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(12.12)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(11.27)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Cohort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-0.0324***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-0.0176***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(-7.33)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(-3.82)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Constant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61.66***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33.98***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(7.07)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(3.73)  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/>
                        <a:t>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/>
                        <a:t>1302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/>
                        <a:t>1212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5562600"/>
            <a:ext cx="441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1400" dirty="0" smtClean="0"/>
              <a:t>t-statistics in parentheses</a:t>
            </a:r>
          </a:p>
          <a:p>
            <a:r>
              <a:rPr lang="en-US" sz="1400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066800"/>
          <a:ext cx="5257800" cy="4800596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170963"/>
                <a:gridCol w="1407733"/>
                <a:gridCol w="1679104"/>
              </a:tblGrid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/>
                        <a:t>U.S</a:t>
                      </a:r>
                      <a:r>
                        <a:rPr lang="en-US" sz="1600" u="none" strike="noStrike" baseline="0" dirty="0" smtClean="0"/>
                        <a:t>. Pride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/>
                        <a:t>Nationalism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Education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-0.0300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-0.0572***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(-1.15)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(-9.06)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Period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1.155***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0.149***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(10.55)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(5.53)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Education x Period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0.102**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0.00609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(2.70)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(0.65)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Cohort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-0.0370***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-0.00844***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(-11.28)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(-10.51)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Constant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75.41***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20.16***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(11.77)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(12.86)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823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/>
                        <a:t>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2521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2561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3810000" y="2971800"/>
            <a:ext cx="1524000" cy="762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10200" y="2971800"/>
            <a:ext cx="1524000" cy="762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4600" y="6096000"/>
            <a:ext cx="441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1200" dirty="0" smtClean="0"/>
              <a:t>t-statistics in parentheses</a:t>
            </a:r>
          </a:p>
          <a:p>
            <a:r>
              <a:rPr lang="en-US" sz="1200" dirty="0" smtClean="0"/>
              <a:t>* p&lt;0.05, ** p&lt;0.01, *** p&lt;0.001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38400" y="685800"/>
          <a:ext cx="4114801" cy="5713899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2243411"/>
                <a:gridCol w="935695"/>
                <a:gridCol w="935695"/>
              </a:tblGrid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Education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0.0565*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0.0252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(2.08)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(0.88)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Cohort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-0.0253***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-0.0238***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(-5.41)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(-5.09)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Gender (Women=1)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-0.802***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-0.780***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(-5.34)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(-5.21)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Race (Black=1)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-1.357***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-1.373***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(-5.88)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(-5.97)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Race (Other=1)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-0.153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-0.0947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(-0.54)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(-0.33)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Region (South=1)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0.390*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0.390*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(2.33)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(2.35)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N. of Memberships (1-2)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0.449*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(2.54)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Number of Memberships (3+)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0.695***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(3.46)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Constant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53.37***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50.49***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(5.83)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(5.52)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/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1212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/>
                        <a:t>1212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5638800" y="4343400"/>
            <a:ext cx="914400" cy="114300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791200" y="838200"/>
            <a:ext cx="609600" cy="5334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After 9/11 U.S. appears to have switched from a “local” to a “national” affective attachment rule.</a:t>
            </a:r>
          </a:p>
          <a:p>
            <a:r>
              <a:rPr lang="en-US" dirty="0" smtClean="0"/>
              <a:t>Psychological perspectives on nationalism don’t help us in predicting </a:t>
            </a:r>
            <a:r>
              <a:rPr lang="en-US" i="1" dirty="0" smtClean="0"/>
              <a:t>which</a:t>
            </a:r>
            <a:r>
              <a:rPr lang="en-US" dirty="0" smtClean="0"/>
              <a:t> individuals were more likely to experience national pride.</a:t>
            </a:r>
          </a:p>
          <a:p>
            <a:pPr lvl="1"/>
            <a:r>
              <a:rPr lang="en-US" dirty="0" smtClean="0"/>
              <a:t>Needs-based approaches predict that those with the most dire needs for belongingness, self-esteem and prestige (low status groups) should increase their attachment</a:t>
            </a:r>
          </a:p>
          <a:p>
            <a:pPr lvl="1"/>
            <a:r>
              <a:rPr lang="en-US" dirty="0" smtClean="0"/>
              <a:t>Irrational conservatism approaches predict that those with high levels of nationalism should have increased their attachment</a:t>
            </a:r>
          </a:p>
          <a:p>
            <a:pPr lvl="1"/>
            <a:r>
              <a:rPr lang="en-US" dirty="0" smtClean="0"/>
              <a:t>Neither is the case for the rise in feelings of national pride in post 9/11 U.S.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choice-process perspective predicts that</a:t>
            </a:r>
          </a:p>
          <a:p>
            <a:pPr lvl="3"/>
            <a:r>
              <a:rPr lang="en-US" dirty="0" smtClean="0"/>
              <a:t>Efficacious and autonomous action in socially structured contexts increases affective attachment to the national group under a new attribution regime (post 9/11)</a:t>
            </a:r>
          </a:p>
          <a:p>
            <a:pPr lvl="3"/>
            <a:r>
              <a:rPr lang="en-US" dirty="0" smtClean="0"/>
              <a:t>Post 9/11, it was precisely those individuals more likely to experience autonomy in their day to day behavior that increased their attachment to the national collectivity</a:t>
            </a:r>
          </a:p>
          <a:p>
            <a:pPr lvl="3"/>
            <a:r>
              <a:rPr lang="en-US" dirty="0" smtClean="0"/>
              <a:t>Embeddedness in nested groups accounts for the association between markers of status and autonomy (i.e. education) and higher degrees of affective attachment to the national group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After 9/11 lower status individuals less likely to increase their levels of national pride than high status individuals due to the fact that</a:t>
            </a:r>
          </a:p>
          <a:p>
            <a:pPr lvl="1"/>
            <a:r>
              <a:rPr lang="en-US" dirty="0" smtClean="0"/>
              <a:t>They are less likely to experience autonomy in their everyday affairs, and thus less likely to be part of the affective choice process</a:t>
            </a:r>
          </a:p>
          <a:p>
            <a:pPr lvl="1"/>
            <a:r>
              <a:rPr lang="en-US" dirty="0" smtClean="0"/>
              <a:t>Low status individuals less likely to be embedded in nested groups (low “social capital”)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about those pesky bumper stickers?</a:t>
            </a:r>
          </a:p>
          <a:p>
            <a:pPr lvl="1"/>
            <a:r>
              <a:rPr lang="en-US" dirty="0" smtClean="0"/>
              <a:t>An analytical distinction from </a:t>
            </a:r>
            <a:r>
              <a:rPr lang="en-US" dirty="0" err="1" smtClean="0"/>
              <a:t>Hochschild</a:t>
            </a:r>
            <a:r>
              <a:rPr lang="en-US" dirty="0" smtClean="0"/>
              <a:t>:  class-based </a:t>
            </a:r>
            <a:r>
              <a:rPr lang="en-US" i="1" dirty="0" smtClean="0"/>
              <a:t>expression rules </a:t>
            </a:r>
            <a:r>
              <a:rPr lang="en-US" dirty="0" smtClean="0"/>
              <a:t>must be kept separate from </a:t>
            </a:r>
            <a:r>
              <a:rPr lang="en-US" i="1" dirty="0" smtClean="0"/>
              <a:t>feeling rules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Lower status individuals more likely to </a:t>
            </a:r>
            <a:r>
              <a:rPr lang="en-US" i="1" dirty="0" smtClean="0"/>
              <a:t>express </a:t>
            </a:r>
            <a:r>
              <a:rPr lang="en-US" dirty="0" smtClean="0"/>
              <a:t>national pride even as they are less likely as a group to feel it</a:t>
            </a:r>
          </a:p>
          <a:p>
            <a:pPr lvl="1"/>
            <a:r>
              <a:rPr lang="en-US" dirty="0" smtClean="0"/>
              <a:t>High-status individuals embedded in nested groups actually more likely to </a:t>
            </a:r>
            <a:r>
              <a:rPr lang="en-US" i="1" dirty="0" smtClean="0"/>
              <a:t>feel</a:t>
            </a:r>
            <a:r>
              <a:rPr lang="en-US" dirty="0" smtClean="0"/>
              <a:t> national pride (after 9/11), but less likely to express it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1219200" y="533400"/>
          <a:ext cx="7620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1801</TotalTime>
  <Words>2018</Words>
  <Application>Microsoft Office PowerPoint</Application>
  <PresentationFormat>On-screen Show (4:3)</PresentationFormat>
  <Paragraphs>351</Paragraphs>
  <Slides>41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Urban</vt:lpstr>
      <vt:lpstr>  (Post-9/11) national pride as affective attachment to a large group:  a choice-process analysis </vt:lpstr>
      <vt:lpstr>Slide 2</vt:lpstr>
      <vt:lpstr>Slide 3</vt:lpstr>
      <vt:lpstr>Slide 4</vt:lpstr>
      <vt:lpstr>Where does national pride come from?  Psychological social psychology</vt:lpstr>
      <vt:lpstr>Where does national pride come from?  The needs based model</vt:lpstr>
      <vt:lpstr>Where does national pride come from?  The needs based model</vt:lpstr>
      <vt:lpstr>Where does national pride come from? The needs based model</vt:lpstr>
      <vt:lpstr>Where does national pride come from? The irrational conservatism model</vt:lpstr>
      <vt:lpstr>Where does national pride come from? The irrational conservatism model</vt:lpstr>
      <vt:lpstr>Slide 11</vt:lpstr>
      <vt:lpstr>Lawler’s choice-process theory </vt:lpstr>
      <vt:lpstr>Lawler’s choice-process theory </vt:lpstr>
      <vt:lpstr>The choice process</vt:lpstr>
      <vt:lpstr>The theoretical status of 9/11</vt:lpstr>
      <vt:lpstr>The theoretical status of 9/11</vt:lpstr>
      <vt:lpstr>The theoretical status of 9/11</vt:lpstr>
      <vt:lpstr>The theoretical status of 9/11</vt:lpstr>
      <vt:lpstr>The theoretical status of 9/11</vt:lpstr>
      <vt:lpstr>The theoretical status of 9/11</vt:lpstr>
      <vt:lpstr>Data Source</vt:lpstr>
      <vt:lpstr>Data and variables: national pride</vt:lpstr>
      <vt:lpstr>Data and variables: nationalism</vt:lpstr>
      <vt:lpstr>Data and variables:  nested groups</vt:lpstr>
      <vt:lpstr>The 9/11 effect</vt:lpstr>
      <vt:lpstr>Slide 26</vt:lpstr>
      <vt:lpstr>The period effect: by item</vt:lpstr>
      <vt:lpstr>Empirical expectations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Discussion and Conclusion</vt:lpstr>
      <vt:lpstr>Discussion and Conclusion</vt:lpstr>
      <vt:lpstr>Discussion and Conclusion</vt:lpstr>
      <vt:lpstr>Discussion and Conclusion</vt:lpstr>
      <vt:lpstr>Slide 41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National pride as affective attachment to a large group: a choice-process analysis     </dc:title>
  <dc:creator>Omar Lizardo</dc:creator>
  <cp:lastModifiedBy>Omar Lizardo</cp:lastModifiedBy>
  <cp:revision>167</cp:revision>
  <dcterms:created xsi:type="dcterms:W3CDTF">2007-10-22T15:21:46Z</dcterms:created>
  <dcterms:modified xsi:type="dcterms:W3CDTF">2007-10-24T12:50:10Z</dcterms:modified>
</cp:coreProperties>
</file>